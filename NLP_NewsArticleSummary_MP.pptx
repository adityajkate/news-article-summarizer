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0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0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CA1953C0-961E-4EFB-A20F-444D95C112EA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2;p1:notes 1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808B1B69-A8EA-4ECC-BA9F-826907CBF4FE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1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40;p2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94DD6D56-043C-4D56-8B51-E7FE4F4B155A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2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47;p3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70A89119-62C2-4D1B-851D-0E25BE777BFD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3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54;p4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7C6137E4-97B1-44EF-9364-D26102C618C0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4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61;g40a2604cad5_1_3:notes"/>
          <p:cNvSpPr/>
          <p:nvPr/>
        </p:nvSpPr>
        <p:spPr>
          <a:xfrm>
            <a:off x="4278240" y="10156680"/>
            <a:ext cx="327924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008DAFB2-9E61-4B1B-BCDC-A1C21D0CE94D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5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685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68;p5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83C2F60C-BEA6-4599-B591-A96D130F33C3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6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68;p5:notes 1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3E976B2B-E5AC-43F5-8D15-16FB12B71E3C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7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68;p5:notes 2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9847115E-6B3E-4D35-B84F-6D3AC0A6FE34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8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75;p6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CEFBD43C-2F58-41C6-A9C1-DFC2D62F6794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9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82;p16:notes"/>
          <p:cNvSpPr/>
          <p:nvPr/>
        </p:nvSpPr>
        <p:spPr>
          <a:xfrm>
            <a:off x="4278240" y="10156680"/>
            <a:ext cx="32788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  <a:buNone/>
              <a:tabLst>
                <a:tab pos="0" algn="l"/>
              </a:tabLst>
            </a:pPr>
            <a:fld id="{241BBB56-FD91-42C1-8965-686DC281D02B}" type="slidenum">
              <a:rPr lang="en-US" sz="1400" b="0" strike="noStrike" spc="-1">
                <a:solidFill>
                  <a:srgbClr val="000000"/>
                </a:solidFill>
                <a:latin typeface="Trebuchet MS"/>
                <a:ea typeface="Trebuchet MS"/>
              </a:rPr>
              <a:t>10</a:t>
            </a:fld>
            <a:endParaRPr lang="en-IN" sz="1400" b="0" strike="noStrike" spc="-1">
              <a:latin typeface="Arial"/>
            </a:endParaRPr>
          </a:p>
        </p:txBody>
      </p:sp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640" y="812880"/>
            <a:ext cx="5346000" cy="400788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7069171-060A-4B32-A2B8-982F5BCC041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6E2DDE-B904-48EC-B2CF-7903A56E3FA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497C99D-FD64-452F-8E58-0BBAF0A0458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5698598-732A-49E2-8B2D-ECF320CF4C2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78F4180-B27A-40CB-9642-1AE6A8FDF60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27FC21-6E1A-49E1-AA7A-2EA00B19900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53DAB8-BCC3-4B99-8AB4-7D0DBED0234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14FF759-1B1E-4B19-8046-4C5CEB89894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D4DD1F1-C3D9-4D40-A6D3-044EA166817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039001B-68CB-412B-86F0-90FFF59204E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7805B76-58D6-4118-9774-A0F3D89828BB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C5FBE65-7E0B-4D76-9705-DE494BF5099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262604E-2B52-4C63-97AC-009D2774321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DDD9A17-1690-49E1-8518-FA1D8EAB144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F082E34-95D1-4FC5-94EF-4025569DC9A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E07B51-E5AA-4ECB-8952-BB1E750F0F6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9685FA6-B4B0-406C-AB0A-0A46F80538F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3E8FEE-A74B-4C93-885F-D70D6C16A66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C2DAA3B-034E-473A-998C-819849A5F3A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D068C3-5699-4139-AF10-493CC1C8551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4851D64-FCFA-45AB-A9B6-43CF35B13D8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97C4B3F-00DA-4D1D-9D93-2535C51A7B1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AF6BB22-5179-4698-BA48-AE8C2BC04B6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03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8D9CD2-B7BA-4FBB-AA17-ADDA202035E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0;p1"/>
          <p:cNvGrpSpPr/>
          <p:nvPr/>
        </p:nvGrpSpPr>
        <p:grpSpPr>
          <a:xfrm>
            <a:off x="-9360" y="-9360"/>
            <a:ext cx="10109880" cy="7578000"/>
            <a:chOff x="-9360" y="-9360"/>
            <a:chExt cx="10109880" cy="7578000"/>
          </a:xfrm>
        </p:grpSpPr>
        <p:sp>
          <p:nvSpPr>
            <p:cNvPr id="17" name="Google Shape;11;p1"/>
            <p:cNvSpPr/>
            <p:nvPr/>
          </p:nvSpPr>
          <p:spPr>
            <a:xfrm>
              <a:off x="-9360" y="4424400"/>
              <a:ext cx="504000" cy="3144240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" name="Google Shape;12;p1"/>
            <p:cNvSpPr/>
            <p:nvPr/>
          </p:nvSpPr>
          <p:spPr>
            <a:xfrm rot="10800000" flipH="1">
              <a:off x="5656320" y="4602960"/>
              <a:ext cx="4433040" cy="2956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rnd">
              <a:solidFill>
                <a:srgbClr val="5FCBEF">
                  <a:alpha val="70000"/>
                </a:srgbClr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" name="Google Shape;13;p1"/>
            <p:cNvSpPr/>
            <p:nvPr/>
          </p:nvSpPr>
          <p:spPr>
            <a:xfrm>
              <a:off x="7764480" y="0"/>
              <a:ext cx="1342440" cy="7558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rnd">
              <a:solidFill>
                <a:srgbClr val="5FCBEF">
                  <a:alpha val="70000"/>
                </a:srgbClr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" name="Google Shape;14;p1"/>
            <p:cNvSpPr/>
            <p:nvPr/>
          </p:nvSpPr>
          <p:spPr>
            <a:xfrm>
              <a:off x="7597800" y="0"/>
              <a:ext cx="2501280" cy="7568640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" name="Google Shape;15;p1"/>
            <p:cNvSpPr/>
            <p:nvPr/>
          </p:nvSpPr>
          <p:spPr>
            <a:xfrm>
              <a:off x="7942320" y="-9360"/>
              <a:ext cx="2147040" cy="7568640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Google Shape;16;p1"/>
            <p:cNvSpPr/>
            <p:nvPr/>
          </p:nvSpPr>
          <p:spPr>
            <a:xfrm>
              <a:off x="7318440" y="4321080"/>
              <a:ext cx="2769480" cy="323784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Google Shape;17;p1"/>
            <p:cNvSpPr/>
            <p:nvPr/>
          </p:nvSpPr>
          <p:spPr>
            <a:xfrm>
              <a:off x="7728120" y="-9360"/>
              <a:ext cx="2361600" cy="7568640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Google Shape;18;p1"/>
            <p:cNvSpPr/>
            <p:nvPr/>
          </p:nvSpPr>
          <p:spPr>
            <a:xfrm>
              <a:off x="9145440" y="-9360"/>
              <a:ext cx="943920" cy="7568640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Google Shape;19;p1"/>
            <p:cNvSpPr/>
            <p:nvPr/>
          </p:nvSpPr>
          <p:spPr>
            <a:xfrm>
              <a:off x="8923320" y="-9360"/>
              <a:ext cx="1175760" cy="7568640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2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Google Shape;20;p1"/>
            <p:cNvSpPr/>
            <p:nvPr/>
          </p:nvSpPr>
          <p:spPr>
            <a:xfrm>
              <a:off x="8894880" y="5394240"/>
              <a:ext cx="1205640" cy="2164680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1" name="PlaceHolder 1"/>
          <p:cNvSpPr>
            <a:spLocks noGrp="1"/>
          </p:cNvSpPr>
          <p:nvPr>
            <p:ph type="ftr" idx="1"/>
          </p:nvPr>
        </p:nvSpPr>
        <p:spPr>
          <a:xfrm>
            <a:off x="671400" y="6659640"/>
            <a:ext cx="50968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2"/>
          </p:nvPr>
        </p:nvSpPr>
        <p:spPr>
          <a:xfrm>
            <a:off x="7104240" y="6659640"/>
            <a:ext cx="5644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5FCBEF"/>
                </a:solidFill>
                <a:latin typeface="Trebuchet MS"/>
                <a:ea typeface="Trebuchet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2B1BA68-7736-4E10-81D3-212EBE5E990A}" type="slidenum">
              <a:rPr lang="en-US" sz="900" b="0" strike="noStrike" spc="-1">
                <a:solidFill>
                  <a:srgbClr val="5FCBEF"/>
                </a:solidFill>
                <a:latin typeface="Trebuchet MS"/>
                <a:ea typeface="Trebuchet MS"/>
              </a:rPr>
              <a:t>‹#›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3"/>
          </p:nvPr>
        </p:nvSpPr>
        <p:spPr>
          <a:xfrm>
            <a:off x="5959440" y="6659640"/>
            <a:ext cx="7534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109;p15"/>
          <p:cNvGrpSpPr/>
          <p:nvPr/>
        </p:nvGrpSpPr>
        <p:grpSpPr>
          <a:xfrm>
            <a:off x="-9360" y="-9360"/>
            <a:ext cx="10109880" cy="7578000"/>
            <a:chOff x="-9360" y="-9360"/>
            <a:chExt cx="10109880" cy="7578000"/>
          </a:xfrm>
        </p:grpSpPr>
        <p:sp>
          <p:nvSpPr>
            <p:cNvPr id="53" name="Google Shape;110;p15"/>
            <p:cNvSpPr/>
            <p:nvPr/>
          </p:nvSpPr>
          <p:spPr>
            <a:xfrm>
              <a:off x="-9360" y="4424400"/>
              <a:ext cx="504000" cy="3144240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" name="Google Shape;111;p15"/>
            <p:cNvSpPr/>
            <p:nvPr/>
          </p:nvSpPr>
          <p:spPr>
            <a:xfrm rot="10800000" flipH="1">
              <a:off x="5656320" y="4602960"/>
              <a:ext cx="4433040" cy="2956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rnd">
              <a:solidFill>
                <a:srgbClr val="5FCBEF">
                  <a:alpha val="70000"/>
                </a:srgbClr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" name="Google Shape;112;p15"/>
            <p:cNvSpPr/>
            <p:nvPr/>
          </p:nvSpPr>
          <p:spPr>
            <a:xfrm>
              <a:off x="7764480" y="0"/>
              <a:ext cx="1342440" cy="7558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rnd">
              <a:solidFill>
                <a:srgbClr val="5FCBEF">
                  <a:alpha val="70000"/>
                </a:srgbClr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" name="Google Shape;113;p15"/>
            <p:cNvSpPr/>
            <p:nvPr/>
          </p:nvSpPr>
          <p:spPr>
            <a:xfrm>
              <a:off x="7597800" y="0"/>
              <a:ext cx="2501280" cy="7568640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" name="Google Shape;114;p15"/>
            <p:cNvSpPr/>
            <p:nvPr/>
          </p:nvSpPr>
          <p:spPr>
            <a:xfrm>
              <a:off x="7942320" y="-9360"/>
              <a:ext cx="2147040" cy="7568640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" name="Google Shape;115;p15"/>
            <p:cNvSpPr/>
            <p:nvPr/>
          </p:nvSpPr>
          <p:spPr>
            <a:xfrm>
              <a:off x="7318440" y="4321080"/>
              <a:ext cx="2769480" cy="323784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" name="Google Shape;116;p15"/>
            <p:cNvSpPr/>
            <p:nvPr/>
          </p:nvSpPr>
          <p:spPr>
            <a:xfrm>
              <a:off x="7728120" y="-9360"/>
              <a:ext cx="2361600" cy="7568640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" name="Google Shape;117;p15"/>
            <p:cNvSpPr/>
            <p:nvPr/>
          </p:nvSpPr>
          <p:spPr>
            <a:xfrm>
              <a:off x="9145440" y="-9360"/>
              <a:ext cx="943920" cy="7568640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" name="Google Shape;118;p15"/>
            <p:cNvSpPr/>
            <p:nvPr/>
          </p:nvSpPr>
          <p:spPr>
            <a:xfrm>
              <a:off x="8923320" y="-9360"/>
              <a:ext cx="1175760" cy="7568640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2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" name="Google Shape;119;p15"/>
            <p:cNvSpPr/>
            <p:nvPr/>
          </p:nvSpPr>
          <p:spPr>
            <a:xfrm>
              <a:off x="8894880" y="5394240"/>
              <a:ext cx="1205640" cy="2164680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3" name="PlaceHolder 1"/>
          <p:cNvSpPr>
            <a:spLocks noGrp="1"/>
          </p:cNvSpPr>
          <p:nvPr>
            <p:ph type="ftr" idx="4"/>
          </p:nvPr>
        </p:nvSpPr>
        <p:spPr>
          <a:xfrm>
            <a:off x="671400" y="6659640"/>
            <a:ext cx="50968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ldNum" idx="5"/>
          </p:nvPr>
        </p:nvSpPr>
        <p:spPr>
          <a:xfrm>
            <a:off x="7104240" y="6659640"/>
            <a:ext cx="5644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5FCBEF"/>
                </a:solidFill>
                <a:latin typeface="Trebuchet MS"/>
                <a:ea typeface="Trebuchet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97D6B96-91A5-4F4F-B0F0-3E674879C3B4}" type="slidenum">
              <a:rPr lang="en-US" sz="900" b="0" strike="noStrike" spc="-1">
                <a:solidFill>
                  <a:srgbClr val="5FCBEF"/>
                </a:solidFill>
                <a:latin typeface="Trebuchet MS"/>
                <a:ea typeface="Trebuchet MS"/>
              </a:rPr>
              <a:t>‹#›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6"/>
          </p:nvPr>
        </p:nvSpPr>
        <p:spPr>
          <a:xfrm>
            <a:off x="5959440" y="6659640"/>
            <a:ext cx="753480" cy="40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36;p17"/>
          <p:cNvSpPr/>
          <p:nvPr/>
        </p:nvSpPr>
        <p:spPr>
          <a:xfrm>
            <a:off x="387359" y="2141685"/>
            <a:ext cx="9166215" cy="236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IN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News Summarization Using NLP</a:t>
            </a:r>
          </a:p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endParaRPr lang="en-IN" sz="3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37;p 2"/>
          <p:cNvSpPr/>
          <p:nvPr/>
        </p:nvSpPr>
        <p:spPr>
          <a:xfrm>
            <a:off x="625" y="1661580"/>
            <a:ext cx="10080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rnd">
            <a:solidFill>
              <a:srgbClr val="000000"/>
            </a:solidFill>
            <a:miter/>
          </a:ln>
          <a:effectLst>
            <a:outerShdw blurRad="63360" dist="2556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12" name="Google Shape;138;p 2"/>
          <p:cNvPicPr/>
          <p:nvPr/>
        </p:nvPicPr>
        <p:blipFill>
          <a:blip r:embed="rId3"/>
          <a:stretch/>
        </p:blipFill>
        <p:spPr>
          <a:xfrm>
            <a:off x="1197000" y="90900"/>
            <a:ext cx="7686000" cy="1571040"/>
          </a:xfrm>
          <a:prstGeom prst="rect">
            <a:avLst/>
          </a:prstGeom>
          <a:ln w="0">
            <a:noFill/>
          </a:ln>
        </p:spPr>
      </p:pic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BE76707D-DBCE-059C-F31B-5BC1AC5EA9BE}"/>
              </a:ext>
            </a:extLst>
          </p:cNvPr>
          <p:cNvSpPr/>
          <p:nvPr/>
        </p:nvSpPr>
        <p:spPr>
          <a:xfrm>
            <a:off x="456892" y="3907711"/>
            <a:ext cx="9166215" cy="236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IN" sz="32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Kate </a:t>
            </a:r>
            <a: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32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23107</a:t>
            </a:r>
            <a: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126</a:t>
            </a:r>
            <a:b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Tanmay Harmalkar - 23107099</a:t>
            </a:r>
            <a:b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Laxmikant Koli - 23107028</a:t>
            </a:r>
            <a:endParaRPr lang="en-IN" sz="320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6;p17">
            <a:extLst>
              <a:ext uri="{FF2B5EF4-FFF2-40B4-BE49-F238E27FC236}">
                <a16:creationId xmlns:a16="http://schemas.microsoft.com/office/drawing/2014/main" id="{5FB18B02-CF2A-67BB-E3A0-C5C9C14033EB}"/>
              </a:ext>
            </a:extLst>
          </p:cNvPr>
          <p:cNvSpPr/>
          <p:nvPr/>
        </p:nvSpPr>
        <p:spPr>
          <a:xfrm>
            <a:off x="456892" y="6389687"/>
            <a:ext cx="9166215" cy="236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IN" sz="28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IN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Avinash Shrivas</a:t>
            </a:r>
            <a:endParaRPr lang="en-IN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44;p18"/>
          <p:cNvSpPr/>
          <p:nvPr/>
        </p:nvSpPr>
        <p:spPr>
          <a:xfrm>
            <a:off x="504720" y="144360"/>
            <a:ext cx="9070200" cy="105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Outline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14" name="Google Shape;145;p18"/>
          <p:cNvSpPr/>
          <p:nvPr/>
        </p:nvSpPr>
        <p:spPr>
          <a:xfrm>
            <a:off x="504720" y="1236600"/>
            <a:ext cx="9322560" cy="55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Abstract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Objectives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Technical Stack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Implementation (Screenshots)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Outcomes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00" indent="-32220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▪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</a:rPr>
              <a:t>Conclusion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51;p19"/>
          <p:cNvSpPr/>
          <p:nvPr/>
        </p:nvSpPr>
        <p:spPr>
          <a:xfrm>
            <a:off x="503280" y="301680"/>
            <a:ext cx="907056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Abstract</a:t>
            </a:r>
            <a:endParaRPr lang="en-IN" sz="3600" b="0" strike="noStrike" spc="-1" dirty="0">
              <a:latin typeface="Arial"/>
            </a:endParaRPr>
          </a:p>
        </p:txBody>
      </p:sp>
      <p:sp>
        <p:nvSpPr>
          <p:cNvPr id="116" name="Google Shape;152;p19"/>
          <p:cNvSpPr/>
          <p:nvPr/>
        </p:nvSpPr>
        <p:spPr>
          <a:xfrm>
            <a:off x="412920" y="1563840"/>
            <a:ext cx="9251280" cy="58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This project develops an NLP-based system to </a:t>
            </a:r>
            <a:r>
              <a:rPr lang="en-IN" sz="2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analyze</a:t>
            </a: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and summarize news articles. It uses methods such as TF-IDF, tokenization, POS tagging, and Named Entity Recognition (NER) to identify important from the text.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spc="-1" dirty="0">
                <a:solidFill>
                  <a:srgbClr val="000000"/>
                </a:solidFill>
                <a:latin typeface="Times New Roman"/>
                <a:ea typeface="Times New Roman"/>
              </a:rPr>
              <a:t>A lightweight GRU model is also used to understand words based on their context. The system provides a simple dashboard for viewing summaries and text analysis while using relatively low computing resources.</a:t>
            </a:r>
            <a:endParaRPr lang="en-IN" sz="24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58;p20"/>
          <p:cNvSpPr/>
          <p:nvPr/>
        </p:nvSpPr>
        <p:spPr>
          <a:xfrm>
            <a:off x="503280" y="30168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Objectives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18" name="Google Shape;159;p20"/>
          <p:cNvSpPr/>
          <p:nvPr/>
        </p:nvSpPr>
        <p:spPr>
          <a:xfrm>
            <a:off x="414360" y="1312200"/>
            <a:ext cx="9251280" cy="528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To build an efficient NLP pipeline that extracts accurate text summaries using statistical methods like TF-IDF.</a:t>
            </a:r>
            <a:endParaRPr lang="en-IN" sz="2400" b="0" strike="noStrike" spc="-1" dirty="0">
              <a:latin typeface="Arial"/>
            </a:endParaRPr>
          </a:p>
          <a:p>
            <a:pPr marL="914400" indent="-457200" algn="just">
              <a:lnSpc>
                <a:spcPct val="100000"/>
              </a:lnSpc>
              <a:spcBef>
                <a:spcPts val="479"/>
              </a:spcBef>
              <a:buFont typeface="+mj-lt"/>
              <a:buAutoNum type="arabicPeriod"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To deconstruct articles into core linguistic components using POS tagging and Named Entity Recognition.</a:t>
            </a:r>
            <a:endParaRPr lang="en-IN" sz="2400" b="0" strike="noStrike" spc="-1" dirty="0">
              <a:latin typeface="Arial"/>
            </a:endParaRPr>
          </a:p>
          <a:p>
            <a:pPr marL="609840" indent="-457200" algn="just">
              <a:lnSpc>
                <a:spcPct val="100000"/>
              </a:lnSpc>
              <a:spcBef>
                <a:spcPts val="479"/>
              </a:spcBef>
              <a:buFont typeface="+mj-lt"/>
              <a:buAutoNum type="arabicPeriod"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To resolve word context ambiguities (like "bank") using a targeted GRU machine learning model.</a:t>
            </a:r>
            <a:endParaRPr lang="en-IN" sz="2400" b="0" strike="noStrike" spc="-1" dirty="0">
              <a:latin typeface="Arial"/>
            </a:endParaRPr>
          </a:p>
          <a:p>
            <a:pPr marL="609840" indent="-457200" algn="just">
              <a:lnSpc>
                <a:spcPct val="100000"/>
              </a:lnSpc>
              <a:spcBef>
                <a:spcPts val="479"/>
              </a:spcBef>
              <a:buFont typeface="+mj-lt"/>
              <a:buAutoNum type="arabicPeriod"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To design a transparent dashboard that visualizes the step-by-step text analysis for the user.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65;p21"/>
          <p:cNvSpPr/>
          <p:nvPr/>
        </p:nvSpPr>
        <p:spPr>
          <a:xfrm>
            <a:off x="503280" y="301680"/>
            <a:ext cx="907056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Technical Stack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20" name="Google Shape;166;p21"/>
          <p:cNvSpPr/>
          <p:nvPr/>
        </p:nvSpPr>
        <p:spPr>
          <a:xfrm>
            <a:off x="414360" y="1312200"/>
            <a:ext cx="9251280" cy="528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Frontend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HTML5, JavaScript (Fetch API), Tailwind CSS</a:t>
            </a:r>
            <a:endParaRPr lang="en-IN" sz="2400" b="0" strike="noStrike" spc="-1" dirty="0"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Backend Framework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Python, Flask, Flask-CORS</a:t>
            </a:r>
            <a:endParaRPr lang="en-IN" sz="2400" b="0" strike="noStrike" spc="-1" dirty="0"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NLP &amp; Computational Linguistics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NLTK,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SpaCy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, Scikit-learn</a:t>
            </a:r>
            <a:endParaRPr lang="en-IN" sz="2400" b="0" strike="noStrike" spc="-1" dirty="0"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Machine Learning / Deep Learning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TensorFlow /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Keras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(GRU Recurrent Neural Network)</a:t>
            </a:r>
            <a:endParaRPr lang="en-IN" sz="2400" b="0" strike="noStrike" spc="-1" dirty="0"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Data Processing &amp; Visualization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NumPy, Pandas,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WordCloud</a:t>
            </a:r>
            <a:endParaRPr lang="en-US" sz="24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spc="-1" dirty="0">
                <a:solidFill>
                  <a:srgbClr val="000000"/>
                </a:solidFill>
                <a:latin typeface="Times New Roman"/>
              </a:rPr>
              <a:t>Dataset: 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Custom WSD Dataset - 16 labeled contextual sentences </a:t>
            </a:r>
            <a:endParaRPr lang="en-IN" sz="2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72;p22"/>
          <p:cNvSpPr/>
          <p:nvPr/>
        </p:nvSpPr>
        <p:spPr>
          <a:xfrm>
            <a:off x="503280" y="-6660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Implementation (Screenshots)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22" name="Google Shape;173;p22"/>
          <p:cNvSpPr/>
          <p:nvPr/>
        </p:nvSpPr>
        <p:spPr>
          <a:xfrm>
            <a:off x="360360" y="1604880"/>
            <a:ext cx="9070200" cy="49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50720" indent="-19044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34308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FF0000"/>
                </a:solidFill>
                <a:latin typeface="Times New Roman"/>
                <a:ea typeface="Times New Roman"/>
              </a:rPr>
              <a:t>	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74D7B-6255-AA03-6DA2-E6F896B83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0682"/>
            <a:ext cx="10080625" cy="4298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72;p 1"/>
          <p:cNvSpPr/>
          <p:nvPr/>
        </p:nvSpPr>
        <p:spPr>
          <a:xfrm>
            <a:off x="503280" y="-6660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Implementation (Screenshots)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25" name="Google Shape;173;p 1"/>
          <p:cNvSpPr/>
          <p:nvPr/>
        </p:nvSpPr>
        <p:spPr>
          <a:xfrm>
            <a:off x="360360" y="1604880"/>
            <a:ext cx="9070200" cy="49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50720" indent="-19044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34308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FF0000"/>
                </a:solidFill>
                <a:latin typeface="Times New Roman"/>
                <a:ea typeface="Times New Roman"/>
              </a:rPr>
              <a:t>	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DAA7D-DDBE-2994-3811-55E63F40D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7770"/>
            <a:ext cx="10080625" cy="4744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72;p 2"/>
          <p:cNvSpPr/>
          <p:nvPr/>
        </p:nvSpPr>
        <p:spPr>
          <a:xfrm>
            <a:off x="503280" y="-6660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Implementation (Screenshots)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28" name="Google Shape;173;p 2"/>
          <p:cNvSpPr/>
          <p:nvPr/>
        </p:nvSpPr>
        <p:spPr>
          <a:xfrm>
            <a:off x="360360" y="1604880"/>
            <a:ext cx="9070200" cy="49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50720" indent="-19044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19044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IN" sz="2400" b="0" strike="noStrike" spc="-1">
              <a:latin typeface="Arial"/>
            </a:endParaRPr>
          </a:p>
          <a:p>
            <a:pPr marL="450720" indent="-343080" algn="just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FF0000"/>
                </a:solidFill>
                <a:latin typeface="Times New Roman"/>
                <a:ea typeface="Times New Roman"/>
              </a:rPr>
              <a:t>	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1ABAC-0730-A59F-6DF5-5D0C55486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8668"/>
            <a:ext cx="10080625" cy="2982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79;p23"/>
          <p:cNvSpPr/>
          <p:nvPr/>
        </p:nvSpPr>
        <p:spPr>
          <a:xfrm>
            <a:off x="503280" y="-6660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Outcomes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131" name="Google Shape;180;p23"/>
          <p:cNvSpPr/>
          <p:nvPr/>
        </p:nvSpPr>
        <p:spPr>
          <a:xfrm>
            <a:off x="360360" y="934200"/>
            <a:ext cx="9070560" cy="49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24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Extractive Summarization: </a:t>
            </a:r>
            <a:r>
              <a:rPr lang="en-IN" sz="24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short and accurate summaries using TF-IDF without generatin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new information.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Analysis: 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the articles into tokens, lemmas, POS tags, chunks, and named entities.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Context-Based Word Meaning: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lightweight GRU model to understand words based on their context, such as ‘bank’ as a riverbank or financial institution.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Dataset Required: 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user-provided articles directly without relying on an external news dataset. The WSD component uses a small custom, manually curated dataset embedded in the code for training the GRU classifier.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86;p24"/>
          <p:cNvSpPr/>
          <p:nvPr/>
        </p:nvSpPr>
        <p:spPr>
          <a:xfrm>
            <a:off x="647640" y="3057480"/>
            <a:ext cx="9070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>
              <a:lnSpc>
                <a:spcPct val="93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Thank You...!!</a:t>
            </a:r>
            <a:endParaRPr lang="en-IN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375</Words>
  <Application>Microsoft Office PowerPoint</Application>
  <PresentationFormat>Custom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Noto Sans Symbols</vt:lpstr>
      <vt:lpstr>Symbol</vt:lpstr>
      <vt:lpstr>Times New Roman</vt:lpstr>
      <vt:lpstr>Trebuchet MS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Kate</dc:creator>
  <dc:description/>
  <cp:lastModifiedBy>Aditya Kate</cp:lastModifiedBy>
  <cp:revision>13</cp:revision>
  <dcterms:modified xsi:type="dcterms:W3CDTF">2026-09-27T20:37:51Z</dcterms:modified>
  <dc:language>en-IN</dc:language>
</cp:coreProperties>
</file>